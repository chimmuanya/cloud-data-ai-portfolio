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 /><Relationship Id="rId6" Type="http://schemas.openxmlformats.org/officeDocument/2006/relationships/tableStyles" Target="tableStyles.xml" /><Relationship Id="rId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9684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228489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69382223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1124263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6402541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721544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6422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8106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378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Relationship Id="rId25" Type="http://schemas.openxmlformats.org/officeDocument/2006/relationships/image" Target="../media/image23.png"/><Relationship Id="rId26" Type="http://schemas.openxmlformats.org/officeDocument/2006/relationships/image" Target="../media/image24.png"/><Relationship Id="rId27" Type="http://schemas.openxmlformats.org/officeDocument/2006/relationships/image" Target="../media/image25.png"/><Relationship Id="rId28" Type="http://schemas.openxmlformats.org/officeDocument/2006/relationships/image" Target="../media/image26.png"/><Relationship Id="rId29" Type="http://schemas.openxmlformats.org/officeDocument/2006/relationships/image" Target="../media/image27.png"/><Relationship Id="rId30" Type="http://schemas.openxmlformats.org/officeDocument/2006/relationships/image" Target="../media/image28.png"/><Relationship Id="rId31" Type="http://schemas.openxmlformats.org/officeDocument/2006/relationships/image" Target="../media/image29.png"/><Relationship Id="rId32" Type="http://schemas.openxmlformats.org/officeDocument/2006/relationships/image" Target="../media/image30.png"/><Relationship Id="rId33" Type="http://schemas.openxmlformats.org/officeDocument/2006/relationships/image" Target="../media/image31.png"/><Relationship Id="rId34" Type="http://schemas.openxmlformats.org/officeDocument/2006/relationships/image" Target="../media/image32.png"/><Relationship Id="rId35" Type="http://schemas.openxmlformats.org/officeDocument/2006/relationships/image" Target="../media/image33.png"/><Relationship Id="rId36" Type="http://schemas.openxmlformats.org/officeDocument/2006/relationships/image" Target="../media/image34.png"/><Relationship Id="rId37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2986632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66948234" name="Image 1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0" y="-9524"/>
            <a:ext cx="12192000" cy="1143000"/>
          </a:xfrm>
          <a:prstGeom prst="rect">
            <a:avLst/>
          </a:prstGeom>
        </p:spPr>
      </p:pic>
      <p:pic>
        <p:nvPicPr>
          <p:cNvPr id="1857932920" name="Image 2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244137" y="257175"/>
            <a:ext cx="114300" cy="152400"/>
          </a:xfrm>
          <a:prstGeom prst="rect">
            <a:avLst/>
          </a:prstGeom>
        </p:spPr>
      </p:pic>
      <p:pic>
        <p:nvPicPr>
          <p:cNvPr id="1845998915" name="Image 3" descr="preencoded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9257481" y="495299"/>
            <a:ext cx="133350" cy="152400"/>
          </a:xfrm>
          <a:prstGeom prst="rect">
            <a:avLst/>
          </a:prstGeom>
        </p:spPr>
      </p:pic>
      <p:pic>
        <p:nvPicPr>
          <p:cNvPr id="1590673731" name="Image 4" descr="preencoded.png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10251728" y="714375"/>
            <a:ext cx="133350" cy="152400"/>
          </a:xfrm>
          <a:prstGeom prst="rect">
            <a:avLst/>
          </a:prstGeom>
        </p:spPr>
      </p:pic>
      <p:pic>
        <p:nvPicPr>
          <p:cNvPr id="1258973029" name="Image 5" descr="preencoded.png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1078111" y="1295400"/>
            <a:ext cx="2161580" cy="304800"/>
          </a:xfrm>
          <a:prstGeom prst="rect">
            <a:avLst/>
          </a:prstGeom>
        </p:spPr>
      </p:pic>
      <p:pic>
        <p:nvPicPr>
          <p:cNvPr id="914052313" name="Image 6" descr="preencoded.png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1192411" y="1362075"/>
            <a:ext cx="152400" cy="152400"/>
          </a:xfrm>
          <a:prstGeom prst="rect">
            <a:avLst/>
          </a:prstGeom>
        </p:spPr>
      </p:pic>
      <p:pic>
        <p:nvPicPr>
          <p:cNvPr id="1274288436" name="Image 7" descr="preencoded.png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304800" y="1676400"/>
            <a:ext cx="3708350" cy="2590800"/>
          </a:xfrm>
          <a:prstGeom prst="rect">
            <a:avLst/>
          </a:prstGeom>
        </p:spPr>
      </p:pic>
      <p:pic>
        <p:nvPicPr>
          <p:cNvPr id="228593354" name="Image 8" descr="preencoded.png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304800" y="1676400"/>
            <a:ext cx="3708350" cy="381000"/>
          </a:xfrm>
          <a:prstGeom prst="rect">
            <a:avLst/>
          </a:prstGeom>
        </p:spPr>
      </p:pic>
      <p:pic>
        <p:nvPicPr>
          <p:cNvPr id="1585811874" name="Image 9" descr="preencoded.png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>
            <a:off x="381000" y="1790700"/>
            <a:ext cx="171450" cy="152400"/>
          </a:xfrm>
          <a:prstGeom prst="rect">
            <a:avLst/>
          </a:prstGeom>
        </p:spPr>
      </p:pic>
      <p:pic>
        <p:nvPicPr>
          <p:cNvPr id="2106875280" name="Image 10" descr="preencoded.png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>
            <a:off x="419100" y="2209800"/>
            <a:ext cx="114300" cy="152400"/>
          </a:xfrm>
          <a:prstGeom prst="rect">
            <a:avLst/>
          </a:prstGeom>
        </p:spPr>
      </p:pic>
      <p:pic>
        <p:nvPicPr>
          <p:cNvPr id="1969232428" name="Image 11" descr="preencoded.png"/>
          <p:cNvPicPr>
            <a:picLocks noChangeAspect="1"/>
          </p:cNvPicPr>
          <p:nvPr/>
        </p:nvPicPr>
        <p:blipFill>
          <a:blip r:embed="rId14"/>
          <a:stretch/>
        </p:blipFill>
        <p:spPr bwMode="auto">
          <a:xfrm>
            <a:off x="419100" y="2781300"/>
            <a:ext cx="3479750" cy="800100"/>
          </a:xfrm>
          <a:prstGeom prst="rect">
            <a:avLst/>
          </a:prstGeom>
        </p:spPr>
      </p:pic>
      <p:pic>
        <p:nvPicPr>
          <p:cNvPr id="457767134" name="Image 12" descr="preencoded.png"/>
          <p:cNvPicPr>
            <a:picLocks noChangeAspect="1"/>
          </p:cNvPicPr>
          <p:nvPr/>
        </p:nvPicPr>
        <p:blipFill>
          <a:blip r:embed="rId15"/>
          <a:stretch/>
        </p:blipFill>
        <p:spPr bwMode="auto">
          <a:xfrm>
            <a:off x="4471690" y="1295400"/>
            <a:ext cx="3248471" cy="304800"/>
          </a:xfrm>
          <a:prstGeom prst="rect">
            <a:avLst/>
          </a:prstGeom>
        </p:spPr>
      </p:pic>
      <p:pic>
        <p:nvPicPr>
          <p:cNvPr id="180646218" name="Image 13" descr="preencoded.png"/>
          <p:cNvPicPr>
            <a:picLocks noChangeAspect="1"/>
          </p:cNvPicPr>
          <p:nvPr/>
        </p:nvPicPr>
        <p:blipFill>
          <a:blip r:embed="rId16"/>
          <a:stretch/>
        </p:blipFill>
        <p:spPr bwMode="auto">
          <a:xfrm>
            <a:off x="4241750" y="1676400"/>
            <a:ext cx="3708350" cy="2590800"/>
          </a:xfrm>
          <a:prstGeom prst="rect">
            <a:avLst/>
          </a:prstGeom>
        </p:spPr>
      </p:pic>
      <p:pic>
        <p:nvPicPr>
          <p:cNvPr id="1224056056" name="Image 14" descr="preencoded.png"/>
          <p:cNvPicPr>
            <a:picLocks noChangeAspect="1"/>
          </p:cNvPicPr>
          <p:nvPr/>
        </p:nvPicPr>
        <p:blipFill>
          <a:blip r:embed="rId17"/>
          <a:stretch/>
        </p:blipFill>
        <p:spPr bwMode="auto">
          <a:xfrm>
            <a:off x="4241750" y="1676400"/>
            <a:ext cx="3708350" cy="381000"/>
          </a:xfrm>
          <a:prstGeom prst="rect">
            <a:avLst/>
          </a:prstGeom>
        </p:spPr>
      </p:pic>
      <p:pic>
        <p:nvPicPr>
          <p:cNvPr id="48423764" name="Image 15" descr="preencoded.png"/>
          <p:cNvPicPr>
            <a:picLocks noChangeAspect="1"/>
          </p:cNvPicPr>
          <p:nvPr/>
        </p:nvPicPr>
        <p:blipFill>
          <a:blip r:embed="rId18"/>
          <a:stretch/>
        </p:blipFill>
        <p:spPr bwMode="auto">
          <a:xfrm>
            <a:off x="4317950" y="1790700"/>
            <a:ext cx="152400" cy="152400"/>
          </a:xfrm>
          <a:prstGeom prst="rect">
            <a:avLst/>
          </a:prstGeom>
        </p:spPr>
      </p:pic>
      <p:pic>
        <p:nvPicPr>
          <p:cNvPr id="787623899" name="Image 16" descr="preencoded.png"/>
          <p:cNvPicPr>
            <a:picLocks noChangeAspect="1"/>
          </p:cNvPicPr>
          <p:nvPr/>
        </p:nvPicPr>
        <p:blipFill>
          <a:blip r:embed="rId19"/>
          <a:stretch/>
        </p:blipFill>
        <p:spPr bwMode="auto">
          <a:xfrm>
            <a:off x="8568333" y="1295400"/>
            <a:ext cx="2929086" cy="304800"/>
          </a:xfrm>
          <a:prstGeom prst="rect">
            <a:avLst/>
          </a:prstGeom>
        </p:spPr>
      </p:pic>
      <p:pic>
        <p:nvPicPr>
          <p:cNvPr id="786716708" name="Image 17" descr="preencoded.png"/>
          <p:cNvPicPr>
            <a:picLocks noChangeAspect="1"/>
          </p:cNvPicPr>
          <p:nvPr/>
        </p:nvPicPr>
        <p:blipFill>
          <a:blip r:embed="rId20"/>
          <a:stretch/>
        </p:blipFill>
        <p:spPr bwMode="auto">
          <a:xfrm>
            <a:off x="8682633" y="1362075"/>
            <a:ext cx="114300" cy="152400"/>
          </a:xfrm>
          <a:prstGeom prst="rect">
            <a:avLst/>
          </a:prstGeom>
        </p:spPr>
      </p:pic>
      <p:pic>
        <p:nvPicPr>
          <p:cNvPr id="2013044894" name="Image 18" descr="preencoded.png"/>
          <p:cNvPicPr>
            <a:picLocks noChangeAspect="1"/>
          </p:cNvPicPr>
          <p:nvPr/>
        </p:nvPicPr>
        <p:blipFill>
          <a:blip r:embed="rId21"/>
          <a:stretch/>
        </p:blipFill>
        <p:spPr bwMode="auto">
          <a:xfrm>
            <a:off x="8178701" y="1676400"/>
            <a:ext cx="3708499" cy="2590800"/>
          </a:xfrm>
          <a:prstGeom prst="rect">
            <a:avLst/>
          </a:prstGeom>
        </p:spPr>
      </p:pic>
      <p:pic>
        <p:nvPicPr>
          <p:cNvPr id="1674189985" name="Image 19" descr="preencoded.png"/>
          <p:cNvPicPr>
            <a:picLocks noChangeAspect="1"/>
          </p:cNvPicPr>
          <p:nvPr/>
        </p:nvPicPr>
        <p:blipFill>
          <a:blip r:embed="rId22"/>
          <a:stretch/>
        </p:blipFill>
        <p:spPr bwMode="auto">
          <a:xfrm>
            <a:off x="8178701" y="1676400"/>
            <a:ext cx="3708499" cy="381000"/>
          </a:xfrm>
          <a:prstGeom prst="rect">
            <a:avLst/>
          </a:prstGeom>
        </p:spPr>
      </p:pic>
      <p:pic>
        <p:nvPicPr>
          <p:cNvPr id="1573909010" name="Image 20" descr="preencoded.png"/>
          <p:cNvPicPr>
            <a:picLocks noChangeAspect="1"/>
          </p:cNvPicPr>
          <p:nvPr/>
        </p:nvPicPr>
        <p:blipFill>
          <a:blip r:embed="rId23"/>
          <a:stretch/>
        </p:blipFill>
        <p:spPr bwMode="auto">
          <a:xfrm>
            <a:off x="8254901" y="1790700"/>
            <a:ext cx="171450" cy="152400"/>
          </a:xfrm>
          <a:prstGeom prst="rect">
            <a:avLst/>
          </a:prstGeom>
        </p:spPr>
      </p:pic>
      <p:pic>
        <p:nvPicPr>
          <p:cNvPr id="1605231177" name="Image 21" descr="preencoded.png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>
            <a:off x="8293001" y="2209800"/>
            <a:ext cx="114300" cy="152400"/>
          </a:xfrm>
          <a:prstGeom prst="rect">
            <a:avLst/>
          </a:prstGeom>
        </p:spPr>
      </p:pic>
      <p:pic>
        <p:nvPicPr>
          <p:cNvPr id="1601570218" name="Image 22" descr="preencoded.png"/>
          <p:cNvPicPr>
            <a:picLocks noChangeAspect="1"/>
          </p:cNvPicPr>
          <p:nvPr/>
        </p:nvPicPr>
        <p:blipFill>
          <a:blip r:embed="rId25"/>
          <a:stretch/>
        </p:blipFill>
        <p:spPr bwMode="auto">
          <a:xfrm>
            <a:off x="8293001" y="2781300"/>
            <a:ext cx="3479899" cy="1371600"/>
          </a:xfrm>
          <a:prstGeom prst="rect">
            <a:avLst/>
          </a:prstGeom>
        </p:spPr>
      </p:pic>
      <p:pic>
        <p:nvPicPr>
          <p:cNvPr id="1323869213" name="Image 23" descr="preencoded.png"/>
          <p:cNvPicPr>
            <a:picLocks noChangeAspect="1"/>
          </p:cNvPicPr>
          <p:nvPr/>
        </p:nvPicPr>
        <p:blipFill>
          <a:blip r:embed="rId26"/>
          <a:stretch/>
        </p:blipFill>
        <p:spPr bwMode="auto">
          <a:xfrm>
            <a:off x="0" y="5676900"/>
            <a:ext cx="12192000" cy="1181099"/>
          </a:xfrm>
          <a:prstGeom prst="rect">
            <a:avLst/>
          </a:prstGeom>
        </p:spPr>
      </p:pic>
      <p:pic>
        <p:nvPicPr>
          <p:cNvPr id="67026299" name="Image 24" descr="preencoded.png"/>
          <p:cNvPicPr>
            <a:picLocks noChangeAspect="1"/>
          </p:cNvPicPr>
          <p:nvPr/>
        </p:nvPicPr>
        <p:blipFill>
          <a:blip r:embed="rId27"/>
          <a:stretch/>
        </p:blipFill>
        <p:spPr bwMode="auto">
          <a:xfrm>
            <a:off x="2216348" y="5905500"/>
            <a:ext cx="1385143" cy="381000"/>
          </a:xfrm>
          <a:prstGeom prst="rect">
            <a:avLst/>
          </a:prstGeom>
        </p:spPr>
      </p:pic>
      <p:pic>
        <p:nvPicPr>
          <p:cNvPr id="1232272034" name="Image 25" descr="preencoded.png"/>
          <p:cNvPicPr>
            <a:picLocks noChangeAspect="1"/>
          </p:cNvPicPr>
          <p:nvPr/>
        </p:nvPicPr>
        <p:blipFill>
          <a:blip r:embed="rId28"/>
          <a:stretch/>
        </p:blipFill>
        <p:spPr bwMode="auto">
          <a:xfrm>
            <a:off x="2368748" y="6019800"/>
            <a:ext cx="114300" cy="152400"/>
          </a:xfrm>
          <a:prstGeom prst="rect">
            <a:avLst/>
          </a:prstGeom>
        </p:spPr>
      </p:pic>
      <p:pic>
        <p:nvPicPr>
          <p:cNvPr id="305573154" name="Image 26" descr="preencoded.png"/>
          <p:cNvPicPr>
            <a:picLocks noChangeAspect="1"/>
          </p:cNvPicPr>
          <p:nvPr/>
        </p:nvPicPr>
        <p:blipFill>
          <a:blip r:embed="rId29"/>
          <a:stretch/>
        </p:blipFill>
        <p:spPr bwMode="auto">
          <a:xfrm>
            <a:off x="4021634" y="5905500"/>
            <a:ext cx="1193155" cy="381000"/>
          </a:xfrm>
          <a:prstGeom prst="rect">
            <a:avLst/>
          </a:prstGeom>
        </p:spPr>
      </p:pic>
      <p:pic>
        <p:nvPicPr>
          <p:cNvPr id="1835496341" name="Image 27" descr="preencoded.png"/>
          <p:cNvPicPr>
            <a:picLocks noChangeAspect="1"/>
          </p:cNvPicPr>
          <p:nvPr/>
        </p:nvPicPr>
        <p:blipFill>
          <a:blip r:embed="rId30"/>
          <a:stretch/>
        </p:blipFill>
        <p:spPr bwMode="auto">
          <a:xfrm>
            <a:off x="4174034" y="6019800"/>
            <a:ext cx="133350" cy="152400"/>
          </a:xfrm>
          <a:prstGeom prst="rect">
            <a:avLst/>
          </a:prstGeom>
        </p:spPr>
      </p:pic>
      <p:pic>
        <p:nvPicPr>
          <p:cNvPr id="1836609082" name="Image 28" descr="preencoded.png"/>
          <p:cNvPicPr>
            <a:picLocks noChangeAspect="1"/>
          </p:cNvPicPr>
          <p:nvPr/>
        </p:nvPicPr>
        <p:blipFill>
          <a:blip r:embed="rId31"/>
          <a:stretch/>
        </p:blipFill>
        <p:spPr bwMode="auto">
          <a:xfrm>
            <a:off x="5634930" y="5905500"/>
            <a:ext cx="1185118" cy="381000"/>
          </a:xfrm>
          <a:prstGeom prst="rect">
            <a:avLst/>
          </a:prstGeom>
        </p:spPr>
      </p:pic>
      <p:pic>
        <p:nvPicPr>
          <p:cNvPr id="1770247639" name="Image 29" descr="preencoded.png"/>
          <p:cNvPicPr>
            <a:picLocks noChangeAspect="1"/>
          </p:cNvPicPr>
          <p:nvPr/>
        </p:nvPicPr>
        <p:blipFill>
          <a:blip r:embed="rId32"/>
          <a:stretch/>
        </p:blipFill>
        <p:spPr bwMode="auto">
          <a:xfrm>
            <a:off x="5787330" y="6019800"/>
            <a:ext cx="190500" cy="152400"/>
          </a:xfrm>
          <a:prstGeom prst="rect">
            <a:avLst/>
          </a:prstGeom>
        </p:spPr>
      </p:pic>
      <p:pic>
        <p:nvPicPr>
          <p:cNvPr id="908253931" name="Image 30" descr="preencoded.png"/>
          <p:cNvPicPr>
            <a:picLocks noChangeAspect="1"/>
          </p:cNvPicPr>
          <p:nvPr/>
        </p:nvPicPr>
        <p:blipFill>
          <a:blip r:embed="rId33"/>
          <a:stretch/>
        </p:blipFill>
        <p:spPr bwMode="auto">
          <a:xfrm>
            <a:off x="7240191" y="5905500"/>
            <a:ext cx="1145828" cy="381000"/>
          </a:xfrm>
          <a:prstGeom prst="rect">
            <a:avLst/>
          </a:prstGeom>
        </p:spPr>
      </p:pic>
      <p:pic>
        <p:nvPicPr>
          <p:cNvPr id="497883169" name="Image 31" descr="preencoded.png"/>
          <p:cNvPicPr>
            <a:picLocks noChangeAspect="1"/>
          </p:cNvPicPr>
          <p:nvPr/>
        </p:nvPicPr>
        <p:blipFill>
          <a:blip r:embed="rId34"/>
          <a:stretch/>
        </p:blipFill>
        <p:spPr bwMode="auto">
          <a:xfrm>
            <a:off x="7392591" y="6019800"/>
            <a:ext cx="114300" cy="152400"/>
          </a:xfrm>
          <a:prstGeom prst="rect">
            <a:avLst/>
          </a:prstGeom>
        </p:spPr>
      </p:pic>
      <p:pic>
        <p:nvPicPr>
          <p:cNvPr id="360656129" name="Image 32" descr="preencoded.png"/>
          <p:cNvPicPr>
            <a:picLocks noChangeAspect="1"/>
          </p:cNvPicPr>
          <p:nvPr/>
        </p:nvPicPr>
        <p:blipFill>
          <a:blip r:embed="rId35"/>
          <a:stretch/>
        </p:blipFill>
        <p:spPr bwMode="auto">
          <a:xfrm>
            <a:off x="8806160" y="5905500"/>
            <a:ext cx="1169343" cy="381000"/>
          </a:xfrm>
          <a:prstGeom prst="rect">
            <a:avLst/>
          </a:prstGeom>
        </p:spPr>
      </p:pic>
      <p:pic>
        <p:nvPicPr>
          <p:cNvPr id="1430137283" name="Image 33" descr="preencoded.png"/>
          <p:cNvPicPr>
            <a:picLocks noChangeAspect="1"/>
          </p:cNvPicPr>
          <p:nvPr/>
        </p:nvPicPr>
        <p:blipFill>
          <a:blip r:embed="rId36"/>
          <a:stretch/>
        </p:blipFill>
        <p:spPr bwMode="auto">
          <a:xfrm>
            <a:off x="8958560" y="6019800"/>
            <a:ext cx="152400" cy="152400"/>
          </a:xfrm>
          <a:prstGeom prst="rect">
            <a:avLst/>
          </a:prstGeom>
        </p:spPr>
      </p:pic>
      <p:pic>
        <p:nvPicPr>
          <p:cNvPr id="589820059" name="Image 34" descr="preencoded.png"/>
          <p:cNvPicPr>
            <a:picLocks noChangeAspect="1"/>
          </p:cNvPicPr>
          <p:nvPr/>
        </p:nvPicPr>
        <p:blipFill>
          <a:blip r:embed="rId37"/>
          <a:stretch/>
        </p:blipFill>
        <p:spPr bwMode="auto">
          <a:xfrm>
            <a:off x="4544020" y="6429375"/>
            <a:ext cx="152400" cy="152400"/>
          </a:xfrm>
          <a:prstGeom prst="rect">
            <a:avLst/>
          </a:prstGeom>
        </p:spPr>
      </p:pic>
      <p:sp>
        <p:nvSpPr>
          <p:cNvPr id="1756445067" name="Text 0"/>
          <p:cNvSpPr/>
          <p:nvPr/>
        </p:nvSpPr>
        <p:spPr bwMode="auto">
          <a:xfrm>
            <a:off x="381000" y="266700"/>
            <a:ext cx="8801279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  <a:defRPr/>
            </a:pPr>
            <a:r>
              <a:rPr lang="en-US" sz="2250" b="1">
                <a:solidFill>
                  <a:srgbClr val="1F2937"/>
                </a:solidFill>
                <a:latin typeface="ui-sans-serif"/>
                <a:ea typeface="ui-sans-serif"/>
                <a:cs typeface="ui-sans-serif"/>
              </a:rPr>
              <a:t>Project 01 — Serverless Data Quality Pipeline</a:t>
            </a:r>
            <a:endParaRPr lang="en-US" sz="2250"/>
          </a:p>
        </p:txBody>
      </p:sp>
      <p:sp>
        <p:nvSpPr>
          <p:cNvPr id="1068820339" name="Text 1"/>
          <p:cNvSpPr/>
          <p:nvPr/>
        </p:nvSpPr>
        <p:spPr bwMode="auto">
          <a:xfrm>
            <a:off x="381000" y="609600"/>
            <a:ext cx="73343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500">
                <a:solidFill>
                  <a:srgbClr val="4B5563"/>
                </a:solidFill>
                <a:latin typeface="ui-sans-serif"/>
                <a:ea typeface="ui-sans-serif"/>
                <a:cs typeface="ui-sans-serif"/>
              </a:rPr>
              <a:t>End-to-End Execution Evidence</a:t>
            </a:r>
            <a:endParaRPr lang="en-US" sz="1500"/>
          </a:p>
        </p:txBody>
      </p:sp>
      <p:sp>
        <p:nvSpPr>
          <p:cNvPr id="947346903" name="Text 2"/>
          <p:cNvSpPr/>
          <p:nvPr/>
        </p:nvSpPr>
        <p:spPr bwMode="auto">
          <a:xfrm>
            <a:off x="9427488" y="228600"/>
            <a:ext cx="23835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374151"/>
                </a:solidFill>
                <a:latin typeface="ui-sans-serif"/>
                <a:ea typeface="ui-sans-serif"/>
                <a:cs typeface="ui-sans-serif"/>
              </a:rPr>
              <a:t>Region: eu-west-1</a:t>
            </a:r>
            <a:endParaRPr lang="en-US" sz="1200"/>
          </a:p>
        </p:txBody>
      </p:sp>
      <p:sp>
        <p:nvSpPr>
          <p:cNvPr id="546276776" name="Text 3"/>
          <p:cNvSpPr/>
          <p:nvPr/>
        </p:nvSpPr>
        <p:spPr bwMode="auto">
          <a:xfrm>
            <a:off x="9503687" y="457200"/>
            <a:ext cx="23835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374151"/>
                </a:solidFill>
                <a:latin typeface="ui-sans-serif"/>
                <a:ea typeface="ui-sans-serif"/>
                <a:cs typeface="ui-sans-serif"/>
              </a:rPr>
              <a:t>Executed by: </a:t>
            </a:r>
            <a:r>
              <a:rPr lang="en" sz="1200">
                <a:solidFill>
                  <a:srgbClr val="374151"/>
                </a:solidFill>
                <a:latin typeface="ui-sans-serif"/>
                <a:ea typeface="ui-sans-serif"/>
                <a:cs typeface="ui-sans-serif"/>
              </a:rPr>
              <a:t>Chimmuanya Mogbo</a:t>
            </a:r>
            <a:endParaRPr lang="en-US" sz="1200"/>
          </a:p>
        </p:txBody>
      </p:sp>
      <p:sp>
        <p:nvSpPr>
          <p:cNvPr id="961441213" name="Text 4"/>
          <p:cNvSpPr/>
          <p:nvPr/>
        </p:nvSpPr>
        <p:spPr bwMode="auto">
          <a:xfrm>
            <a:off x="9427488" y="685800"/>
            <a:ext cx="23835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374151"/>
                </a:solidFill>
                <a:latin typeface="ui-sans-serif"/>
                <a:ea typeface="ui-sans-serif"/>
                <a:cs typeface="ui-sans-serif"/>
              </a:rPr>
              <a:t>Date: 2025-12-05</a:t>
            </a:r>
            <a:endParaRPr lang="en-US" sz="1200"/>
          </a:p>
        </p:txBody>
      </p:sp>
      <p:sp>
        <p:nvSpPr>
          <p:cNvPr id="1587880141" name="Text 5"/>
          <p:cNvSpPr/>
          <p:nvPr/>
        </p:nvSpPr>
        <p:spPr bwMode="auto">
          <a:xfrm>
            <a:off x="861953" y="1295400"/>
            <a:ext cx="259389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1E40AF"/>
                </a:solidFill>
                <a:latin typeface="ui-sans-serif"/>
                <a:ea typeface="ui-sans-serif"/>
                <a:cs typeface="ui-sans-serif"/>
              </a:rPr>
              <a:t> S3 Input (CSV Upload)</a:t>
            </a:r>
            <a:endParaRPr lang="en-US" sz="1200"/>
          </a:p>
        </p:txBody>
      </p:sp>
      <p:sp>
        <p:nvSpPr>
          <p:cNvPr id="1330034491" name="Text 6"/>
          <p:cNvSpPr/>
          <p:nvPr/>
        </p:nvSpPr>
        <p:spPr bwMode="auto">
          <a:xfrm>
            <a:off x="628650" y="1752599"/>
            <a:ext cx="26931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508012525512-data-qc-input</a:t>
            </a:r>
            <a:endParaRPr lang="en-US" sz="1200"/>
          </a:p>
        </p:txBody>
      </p:sp>
      <p:sp>
        <p:nvSpPr>
          <p:cNvPr id="1717031178" name="Text 7"/>
          <p:cNvSpPr/>
          <p:nvPr/>
        </p:nvSpPr>
        <p:spPr bwMode="auto">
          <a:xfrm>
            <a:off x="609600" y="2171700"/>
            <a:ext cx="24204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bad_age_out_of_range.csv</a:t>
            </a:r>
            <a:endParaRPr lang="en-US" sz="1200"/>
          </a:p>
        </p:txBody>
      </p:sp>
      <p:sp>
        <p:nvSpPr>
          <p:cNvPr id="2102459435" name="Text 8"/>
          <p:cNvSpPr/>
          <p:nvPr/>
        </p:nvSpPr>
        <p:spPr bwMode="auto">
          <a:xfrm>
            <a:off x="647700" y="2476500"/>
            <a:ext cx="39013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B7280"/>
                </a:solidFill>
                <a:latin typeface="ui-sans-serif"/>
                <a:ea typeface="ui-sans-serif"/>
                <a:cs typeface="ui-sans-serif"/>
              </a:rPr>
              <a:t>December 5, 2025, 10:36:10 UTC+01:00</a:t>
            </a:r>
            <a:endParaRPr lang="en-US" sz="1050"/>
          </a:p>
        </p:txBody>
      </p:sp>
      <p:sp>
        <p:nvSpPr>
          <p:cNvPr id="712768919" name="Text 9"/>
          <p:cNvSpPr/>
          <p:nvPr/>
        </p:nvSpPr>
        <p:spPr bwMode="auto">
          <a:xfrm>
            <a:off x="495300" y="2857500"/>
            <a:ext cx="3327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File details:</a:t>
            </a:r>
            <a:endParaRPr lang="en-US" sz="1200"/>
          </a:p>
        </p:txBody>
      </p:sp>
      <p:sp>
        <p:nvSpPr>
          <p:cNvPr id="1937819193" name="Text 10"/>
          <p:cNvSpPr/>
          <p:nvPr/>
        </p:nvSpPr>
        <p:spPr bwMode="auto">
          <a:xfrm>
            <a:off x="495300" y="3124200"/>
            <a:ext cx="3327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Size: 2.4 KB</a:t>
            </a:r>
            <a:endParaRPr lang="en-US" sz="1050"/>
          </a:p>
        </p:txBody>
      </p:sp>
      <p:sp>
        <p:nvSpPr>
          <p:cNvPr id="1601133389" name="Text 11"/>
          <p:cNvSpPr/>
          <p:nvPr/>
        </p:nvSpPr>
        <p:spPr bwMode="auto">
          <a:xfrm>
            <a:off x="495300" y="3314700"/>
            <a:ext cx="3327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Type: CSV</a:t>
            </a:r>
            <a:endParaRPr lang="en-US" sz="1050"/>
          </a:p>
        </p:txBody>
      </p:sp>
      <p:sp>
        <p:nvSpPr>
          <p:cNvPr id="2092233211" name="Text 12"/>
          <p:cNvSpPr/>
          <p:nvPr/>
        </p:nvSpPr>
        <p:spPr bwMode="auto">
          <a:xfrm>
            <a:off x="4146843" y="1295400"/>
            <a:ext cx="389816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1E40AF"/>
                </a:solidFill>
                <a:latin typeface="ui-sans-serif"/>
                <a:ea typeface="ui-sans-serif"/>
                <a:cs typeface="ui-sans-serif"/>
              </a:rPr>
              <a:t> Lambda Invocation (CloudWatch Logs)</a:t>
            </a:r>
            <a:endParaRPr lang="en-US" sz="1200"/>
          </a:p>
        </p:txBody>
      </p:sp>
      <p:sp>
        <p:nvSpPr>
          <p:cNvPr id="1184811594" name="Text 13"/>
          <p:cNvSpPr/>
          <p:nvPr/>
        </p:nvSpPr>
        <p:spPr bwMode="auto">
          <a:xfrm>
            <a:off x="4546550" y="1752599"/>
            <a:ext cx="30234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data-qc-lambda-project1-data-qc</a:t>
            </a:r>
            <a:endParaRPr lang="en-US" sz="1200"/>
          </a:p>
        </p:txBody>
      </p:sp>
      <p:sp>
        <p:nvSpPr>
          <p:cNvPr id="485907525" name="Text 14"/>
          <p:cNvSpPr/>
          <p:nvPr/>
        </p:nvSpPr>
        <p:spPr bwMode="auto">
          <a:xfrm>
            <a:off x="4356050" y="2171700"/>
            <a:ext cx="41756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B7280"/>
                </a:solidFill>
                <a:latin typeface="ui-monospace"/>
                <a:ea typeface="ui-monospace"/>
                <a:cs typeface="ui-monospace"/>
              </a:rPr>
              <a:t>INIT_START Runtime Version: $LATEST</a:t>
            </a:r>
            <a:endParaRPr lang="en-US" sz="1050"/>
          </a:p>
        </p:txBody>
      </p:sp>
      <p:sp>
        <p:nvSpPr>
          <p:cNvPr id="1855237626" name="Text 15"/>
          <p:cNvSpPr/>
          <p:nvPr/>
        </p:nvSpPr>
        <p:spPr bwMode="auto">
          <a:xfrm>
            <a:off x="4356050" y="2362199"/>
            <a:ext cx="41756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374151"/>
                </a:solidFill>
                <a:latin typeface="ui-monospace"/>
                <a:ea typeface="ui-monospace"/>
                <a:cs typeface="ui-monospace"/>
              </a:rPr>
              <a:t>START RequestId: 12345-abcde</a:t>
            </a:r>
            <a:endParaRPr lang="en-US" sz="1050"/>
          </a:p>
        </p:txBody>
      </p:sp>
      <p:sp>
        <p:nvSpPr>
          <p:cNvPr id="1812171430" name="Text 16"/>
          <p:cNvSpPr/>
          <p:nvPr/>
        </p:nvSpPr>
        <p:spPr bwMode="auto">
          <a:xfrm>
            <a:off x="4356050" y="2552700"/>
            <a:ext cx="41756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374151"/>
                </a:solidFill>
                <a:latin typeface="ui-monospace"/>
                <a:ea typeface="ui-monospace"/>
                <a:cs typeface="ui-monospace"/>
              </a:rPr>
              <a:t>Processing file: bad_age_out_of_range.csv</a:t>
            </a:r>
            <a:endParaRPr lang="en-US" sz="1050"/>
          </a:p>
        </p:txBody>
      </p:sp>
      <p:sp>
        <p:nvSpPr>
          <p:cNvPr id="63089982" name="Text 17"/>
          <p:cNvSpPr/>
          <p:nvPr/>
        </p:nvSpPr>
        <p:spPr bwMode="auto">
          <a:xfrm>
            <a:off x="4356050" y="2743200"/>
            <a:ext cx="3479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374151"/>
                </a:solidFill>
                <a:latin typeface="ui-monospace"/>
                <a:ea typeface="ui-monospace"/>
                <a:cs typeface="ui-monospace"/>
              </a:rPr>
              <a:t>Validating data...</a:t>
            </a:r>
            <a:endParaRPr lang="en-US" sz="1050"/>
          </a:p>
        </p:txBody>
      </p:sp>
      <p:sp>
        <p:nvSpPr>
          <p:cNvPr id="1668909603" name="Text 18"/>
          <p:cNvSpPr/>
          <p:nvPr/>
        </p:nvSpPr>
        <p:spPr bwMode="auto">
          <a:xfrm>
            <a:off x="4356050" y="2933699"/>
            <a:ext cx="41756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374151"/>
                </a:solidFill>
                <a:latin typeface="ui-monospace"/>
                <a:ea typeface="ui-monospace"/>
                <a:cs typeface="ui-monospace"/>
              </a:rPr>
              <a:t>Data validation complete</a:t>
            </a:r>
            <a:endParaRPr lang="en-US" sz="1050"/>
          </a:p>
        </p:txBody>
      </p:sp>
      <p:sp>
        <p:nvSpPr>
          <p:cNvPr id="1766443353" name="Text 19"/>
          <p:cNvSpPr/>
          <p:nvPr/>
        </p:nvSpPr>
        <p:spPr bwMode="auto">
          <a:xfrm>
            <a:off x="4356050" y="3124200"/>
            <a:ext cx="41756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374151"/>
                </a:solidFill>
                <a:latin typeface="ui-monospace"/>
                <a:ea typeface="ui-monospace"/>
                <a:cs typeface="ui-monospace"/>
              </a:rPr>
              <a:t>Generating QC report...</a:t>
            </a:r>
            <a:endParaRPr lang="en-US" sz="1050"/>
          </a:p>
        </p:txBody>
      </p:sp>
      <p:sp>
        <p:nvSpPr>
          <p:cNvPr id="1487806767" name="Text 20"/>
          <p:cNvSpPr/>
          <p:nvPr/>
        </p:nvSpPr>
        <p:spPr bwMode="auto">
          <a:xfrm>
            <a:off x="4356050" y="3314700"/>
            <a:ext cx="3479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B7280"/>
                </a:solidFill>
                <a:latin typeface="ui-monospace"/>
                <a:ea typeface="ui-monospace"/>
                <a:cs typeface="ui-monospace"/>
              </a:rPr>
              <a:t>REPORT RequestId: 12345-abcde Duration: 1250.00 ms</a:t>
            </a:r>
            <a:endParaRPr lang="en-US" sz="1050"/>
          </a:p>
        </p:txBody>
      </p:sp>
      <p:sp>
        <p:nvSpPr>
          <p:cNvPr id="1381748508" name="Text 21"/>
          <p:cNvSpPr/>
          <p:nvPr/>
        </p:nvSpPr>
        <p:spPr bwMode="auto">
          <a:xfrm>
            <a:off x="8275424" y="1295400"/>
            <a:ext cx="351490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1E40AF"/>
                </a:solidFill>
                <a:latin typeface="ui-sans-serif"/>
                <a:ea typeface="ui-sans-serif"/>
                <a:cs typeface="ui-sans-serif"/>
              </a:rPr>
              <a:t> QC JSON Output (Reports Folder)</a:t>
            </a:r>
            <a:endParaRPr lang="en-US" sz="1200"/>
          </a:p>
        </p:txBody>
      </p:sp>
      <p:sp>
        <p:nvSpPr>
          <p:cNvPr id="1008652132" name="Text 22"/>
          <p:cNvSpPr/>
          <p:nvPr/>
        </p:nvSpPr>
        <p:spPr bwMode="auto">
          <a:xfrm>
            <a:off x="8502551" y="1752599"/>
            <a:ext cx="7154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reports/</a:t>
            </a:r>
            <a:endParaRPr lang="en-US" sz="1200"/>
          </a:p>
        </p:txBody>
      </p:sp>
      <p:sp>
        <p:nvSpPr>
          <p:cNvPr id="39837666" name="Text 23"/>
          <p:cNvSpPr/>
          <p:nvPr/>
        </p:nvSpPr>
        <p:spPr bwMode="auto">
          <a:xfrm>
            <a:off x="8483501" y="2171700"/>
            <a:ext cx="31130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bad_age_out_of_range.csv.qc.json</a:t>
            </a:r>
            <a:endParaRPr lang="en-US" sz="1200"/>
          </a:p>
        </p:txBody>
      </p:sp>
      <p:sp>
        <p:nvSpPr>
          <p:cNvPr id="376100699" name="Text 24"/>
          <p:cNvSpPr/>
          <p:nvPr/>
        </p:nvSpPr>
        <p:spPr bwMode="auto">
          <a:xfrm>
            <a:off x="8521601" y="2476500"/>
            <a:ext cx="39015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B7280"/>
                </a:solidFill>
                <a:latin typeface="ui-sans-serif"/>
                <a:ea typeface="ui-sans-serif"/>
                <a:cs typeface="ui-sans-serif"/>
              </a:rPr>
              <a:t>December 5, 2025, 10:36:17 UTC+01:00</a:t>
            </a:r>
            <a:endParaRPr lang="en-US" sz="1050"/>
          </a:p>
        </p:txBody>
      </p:sp>
      <p:sp>
        <p:nvSpPr>
          <p:cNvPr id="1219807640" name="Text 25"/>
          <p:cNvSpPr/>
          <p:nvPr/>
        </p:nvSpPr>
        <p:spPr bwMode="auto">
          <a:xfrm>
            <a:off x="8369201" y="2857500"/>
            <a:ext cx="33274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QC Report:</a:t>
            </a:r>
            <a:endParaRPr lang="en-US" sz="1200"/>
          </a:p>
        </p:txBody>
      </p:sp>
      <p:sp>
        <p:nvSpPr>
          <p:cNvPr id="1543047808" name="Text 26"/>
          <p:cNvSpPr/>
          <p:nvPr/>
        </p:nvSpPr>
        <p:spPr bwMode="auto">
          <a:xfrm>
            <a:off x="8369201" y="3124200"/>
            <a:ext cx="33274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{</a:t>
            </a:r>
            <a:endParaRPr lang="en-US" sz="1050"/>
          </a:p>
        </p:txBody>
      </p:sp>
      <p:sp>
        <p:nvSpPr>
          <p:cNvPr id="549286646" name="Text 27"/>
          <p:cNvSpPr/>
          <p:nvPr/>
        </p:nvSpPr>
        <p:spPr bwMode="auto">
          <a:xfrm>
            <a:off x="8521601" y="3314700"/>
            <a:ext cx="31750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"num_rows": 100,</a:t>
            </a:r>
            <a:endParaRPr lang="en-US" sz="1050"/>
          </a:p>
        </p:txBody>
      </p:sp>
      <p:sp>
        <p:nvSpPr>
          <p:cNvPr id="1560921936" name="Text 28"/>
          <p:cNvSpPr/>
          <p:nvPr/>
        </p:nvSpPr>
        <p:spPr bwMode="auto">
          <a:xfrm>
            <a:off x="8521601" y="3505199"/>
            <a:ext cx="31750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"num_columns": 5,</a:t>
            </a:r>
            <a:endParaRPr lang="en-US" sz="1050"/>
          </a:p>
        </p:txBody>
      </p:sp>
      <p:sp>
        <p:nvSpPr>
          <p:cNvPr id="552314316" name="Text 29"/>
          <p:cNvSpPr/>
          <p:nvPr/>
        </p:nvSpPr>
        <p:spPr bwMode="auto">
          <a:xfrm>
            <a:off x="8521601" y="3695700"/>
            <a:ext cx="38101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"</a:t>
            </a:r>
            <a:r>
              <a:rPr lang="en-US" sz="1050" b="0" i="0" u="none" strike="noStrike" cap="none" spc="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columns_present</a:t>
            </a:r>
            <a:r>
              <a:rPr lang="en-US" sz="105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": </a:t>
            </a:r>
            <a:r>
              <a:rPr lang="en-US" sz="1050" b="0" i="0" u="none" strike="noStrike" cap="none" spc="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["id", "name", "age", "email</a:t>
            </a:r>
            <a:r>
              <a:rPr lang="en" sz="1050" b="0" i="0" u="none" strike="noStrike" cap="none" spc="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”</a:t>
            </a:r>
            <a:r>
              <a:rPr lang="en-US" sz="1050" b="0" i="0" u="none" strike="noStrike" cap="none" spc="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]</a:t>
            </a:r>
            <a:r>
              <a:rPr lang="en" sz="1050" b="0" i="0" u="none" strike="noStrike" cap="none" spc="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,</a:t>
            </a:r>
            <a:r>
              <a:rPr lang="en" sz="1050"/>
              <a:t> ...</a:t>
            </a:r>
            <a:endParaRPr lang="en" sz="1050" b="0" i="0" u="none" strike="noStrike" cap="none" spc="0">
              <a:solidFill>
                <a:srgbClr val="000000"/>
              </a:solidFill>
              <a:latin typeface="ui-sans-serif"/>
              <a:ea typeface="ui-sans-serif"/>
              <a:cs typeface="ui-sans-serif"/>
            </a:endParaRPr>
          </a:p>
          <a:p>
            <a:pPr marL="0" indent="0">
              <a:lnSpc>
                <a:spcPts val="1499"/>
              </a:lnSpc>
              <a:buNone/>
              <a:defRPr/>
            </a:pPr>
            <a:endParaRPr lang="en-US" sz="1050"/>
          </a:p>
        </p:txBody>
      </p:sp>
      <p:sp>
        <p:nvSpPr>
          <p:cNvPr id="508819182" name="Text 30"/>
          <p:cNvSpPr/>
          <p:nvPr/>
        </p:nvSpPr>
        <p:spPr bwMode="auto">
          <a:xfrm flipH="0" flipV="0">
            <a:off x="8369200" y="3886200"/>
            <a:ext cx="3327498" cy="1904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}</a:t>
            </a:r>
            <a:endParaRPr lang="en-US" sz="1050"/>
          </a:p>
        </p:txBody>
      </p:sp>
      <p:sp>
        <p:nvSpPr>
          <p:cNvPr id="243716772" name="Text 31"/>
          <p:cNvSpPr/>
          <p:nvPr/>
        </p:nvSpPr>
        <p:spPr bwMode="auto">
          <a:xfrm>
            <a:off x="2559248" y="5981700"/>
            <a:ext cx="10678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CSV Upload</a:t>
            </a:r>
            <a:endParaRPr lang="en-US" sz="1200"/>
          </a:p>
        </p:txBody>
      </p:sp>
      <p:sp>
        <p:nvSpPr>
          <p:cNvPr id="65259306" name="Text 32"/>
          <p:cNvSpPr/>
          <p:nvPr/>
        </p:nvSpPr>
        <p:spPr bwMode="auto">
          <a:xfrm>
            <a:off x="3715792" y="5924550"/>
            <a:ext cx="2298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  <a:defRPr/>
            </a:pPr>
            <a:r>
              <a:rPr lang="en-US" sz="1800">
                <a:solidFill>
                  <a:srgbClr val="666666"/>
                </a:solidFill>
                <a:latin typeface="ui-sans-serif"/>
                <a:ea typeface="ui-sans-serif"/>
                <a:cs typeface="ui-sans-serif"/>
              </a:rPr>
              <a:t>→</a:t>
            </a:r>
            <a:endParaRPr lang="en-US" sz="1800"/>
          </a:p>
        </p:txBody>
      </p:sp>
      <p:sp>
        <p:nvSpPr>
          <p:cNvPr id="1847467354" name="Text 33"/>
          <p:cNvSpPr/>
          <p:nvPr/>
        </p:nvSpPr>
        <p:spPr bwMode="auto">
          <a:xfrm>
            <a:off x="4383584" y="5981700"/>
            <a:ext cx="81456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S3 Event</a:t>
            </a:r>
            <a:endParaRPr lang="en-US" sz="1200"/>
          </a:p>
        </p:txBody>
      </p:sp>
      <p:sp>
        <p:nvSpPr>
          <p:cNvPr id="1322599818" name="Text 34"/>
          <p:cNvSpPr/>
          <p:nvPr/>
        </p:nvSpPr>
        <p:spPr bwMode="auto">
          <a:xfrm>
            <a:off x="5329089" y="5924550"/>
            <a:ext cx="2298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  <a:defRPr/>
            </a:pPr>
            <a:r>
              <a:rPr lang="en-US" sz="1800">
                <a:solidFill>
                  <a:srgbClr val="666666"/>
                </a:solidFill>
                <a:latin typeface="ui-sans-serif"/>
                <a:ea typeface="ui-sans-serif"/>
                <a:cs typeface="ui-sans-serif"/>
              </a:rPr>
              <a:t>→</a:t>
            </a:r>
            <a:endParaRPr lang="en-US" sz="1800"/>
          </a:p>
        </p:txBody>
      </p:sp>
      <p:sp>
        <p:nvSpPr>
          <p:cNvPr id="2006353763" name="Text 35"/>
          <p:cNvSpPr/>
          <p:nvPr/>
        </p:nvSpPr>
        <p:spPr bwMode="auto">
          <a:xfrm>
            <a:off x="6054030" y="5981700"/>
            <a:ext cx="7363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Lambda</a:t>
            </a:r>
            <a:endParaRPr lang="en-US" sz="1200"/>
          </a:p>
        </p:txBody>
      </p:sp>
      <p:sp>
        <p:nvSpPr>
          <p:cNvPr id="2008340248" name="Text 36"/>
          <p:cNvSpPr/>
          <p:nvPr/>
        </p:nvSpPr>
        <p:spPr bwMode="auto">
          <a:xfrm>
            <a:off x="6934349" y="5924550"/>
            <a:ext cx="2298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  <a:defRPr/>
            </a:pPr>
            <a:r>
              <a:rPr lang="en-US" sz="1800">
                <a:solidFill>
                  <a:srgbClr val="666666"/>
                </a:solidFill>
                <a:latin typeface="ui-sans-serif"/>
                <a:ea typeface="ui-sans-serif"/>
                <a:cs typeface="ui-sans-serif"/>
              </a:rPr>
              <a:t>→</a:t>
            </a:r>
            <a:endParaRPr lang="en-US" sz="1800"/>
          </a:p>
        </p:txBody>
      </p:sp>
      <p:sp>
        <p:nvSpPr>
          <p:cNvPr id="1406518750" name="Text 37"/>
          <p:cNvSpPr/>
          <p:nvPr/>
        </p:nvSpPr>
        <p:spPr bwMode="auto">
          <a:xfrm>
            <a:off x="7583091" y="5981700"/>
            <a:ext cx="7806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QC JSON</a:t>
            </a:r>
            <a:endParaRPr lang="en-US" sz="1200"/>
          </a:p>
        </p:txBody>
      </p:sp>
      <p:sp>
        <p:nvSpPr>
          <p:cNvPr id="1205242264" name="Text 38"/>
          <p:cNvSpPr/>
          <p:nvPr/>
        </p:nvSpPr>
        <p:spPr bwMode="auto">
          <a:xfrm>
            <a:off x="8500318" y="5924550"/>
            <a:ext cx="2298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  <a:defRPr/>
            </a:pPr>
            <a:r>
              <a:rPr lang="en-US" sz="1800">
                <a:solidFill>
                  <a:srgbClr val="666666"/>
                </a:solidFill>
                <a:latin typeface="ui-sans-serif"/>
                <a:ea typeface="ui-sans-serif"/>
                <a:cs typeface="ui-sans-serif"/>
              </a:rPr>
              <a:t>→</a:t>
            </a:r>
            <a:endParaRPr lang="en-US" sz="1800"/>
          </a:p>
        </p:txBody>
      </p:sp>
      <p:sp>
        <p:nvSpPr>
          <p:cNvPr id="802152194" name="Text 39"/>
          <p:cNvSpPr/>
          <p:nvPr/>
        </p:nvSpPr>
        <p:spPr bwMode="auto">
          <a:xfrm>
            <a:off x="9187160" y="5981700"/>
            <a:ext cx="7631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000000"/>
                </a:solidFill>
                <a:latin typeface="ui-sans-serif"/>
                <a:ea typeface="ui-sans-serif"/>
                <a:cs typeface="ui-sans-serif"/>
              </a:rPr>
              <a:t>Reports/</a:t>
            </a:r>
            <a:endParaRPr lang="en-US" sz="1200"/>
          </a:p>
        </p:txBody>
      </p:sp>
      <p:sp>
        <p:nvSpPr>
          <p:cNvPr id="1965649560" name="Text 40"/>
          <p:cNvSpPr/>
          <p:nvPr/>
        </p:nvSpPr>
        <p:spPr bwMode="auto">
          <a:xfrm>
            <a:off x="381000" y="6400800"/>
            <a:ext cx="11430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sz="1200">
                <a:solidFill>
                  <a:srgbClr val="4B5563"/>
                </a:solidFill>
                <a:latin typeface="ui-sans-serif"/>
                <a:ea typeface="ui-sans-serif"/>
                <a:cs typeface="ui-sans-serif"/>
              </a:rPr>
              <a:t> End-to-end pipeline execution proven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ONLYOFFICE/9.0.0.172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2</cp:revision>
  <dcterms:created xsi:type="dcterms:W3CDTF">2025-12-05T10:34:24Z</dcterms:created>
  <dcterms:modified xsi:type="dcterms:W3CDTF">2025-12-05T10:39:47Z</dcterms:modified>
</cp:coreProperties>
</file>